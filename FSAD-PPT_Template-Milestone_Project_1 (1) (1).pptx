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6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Bookman Old Style" panose="02050604050505020204" pitchFamily="18" charset="0"/>
      <p:regular r:id="rId25"/>
      <p:bold r:id="rId26"/>
      <p:italic r:id="rId27"/>
    </p:embeddedFont>
    <p:embeddedFont>
      <p:font typeface="Gotham Bold Italics" panose="02000000000000000000" charset="0"/>
      <p:boldItalic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8" d="100"/>
          <a:sy n="48" d="100"/>
        </p:scale>
        <p:origin x="29" y="77"/>
      </p:cViewPr>
      <p:guideLst>
        <p:guide orient="horz" pos="20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10307" y="377221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-03-2026</a:t>
            </a:r>
            <a:endParaRPr lang="en-US" alt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60035" y="56007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</a:t>
            </a:r>
            <a:r>
              <a:rPr lang="en-US" altLang="zh-CN" sz="3000" dirty="0">
                <a:latin typeface="Cambria" panose="02040503050406030204" pitchFamily="18" charset="0"/>
                <a:ea typeface="Cambria" panose="02040503050406030204" pitchFamily="18" charset="0"/>
              </a:rPr>
              <a:t>S.Hemamalini</a:t>
            </a:r>
            <a:endParaRPr lang="en-IN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0" y="6346190"/>
            <a:ext cx="16468725" cy="1017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Automated quiz engine with pdf generation certification</a:t>
            </a:r>
            <a:endParaRPr lang="en-US" alt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Box 2"/>
          <p:cNvSpPr txBox="1"/>
          <p:nvPr userDrawn="1"/>
        </p:nvSpPr>
        <p:spPr>
          <a:xfrm>
            <a:off x="1026795" y="8328025"/>
            <a:ext cx="5065395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152400" y="504190"/>
            <a:ext cx="18135600" cy="936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08855" y="7837170"/>
            <a:ext cx="12483465" cy="4321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altLang="en-US" sz="3600" dirty="0"/>
          </a:p>
          <a:p>
            <a:pPr marL="457200" indent="-457200">
              <a:buFontTx/>
              <a:buChar char="-"/>
            </a:pPr>
            <a:endParaRPr lang="en-US" alt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IN" sz="3600" dirty="0"/>
          </a:p>
        </p:txBody>
      </p:sp>
      <p:sp>
        <p:nvSpPr>
          <p:cNvPr id="43" name="Text Box 42"/>
          <p:cNvSpPr txBox="1"/>
          <p:nvPr/>
        </p:nvSpPr>
        <p:spPr>
          <a:xfrm>
            <a:off x="876258" y="2070576"/>
            <a:ext cx="16687800" cy="7896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/>
              <a:t>The Hook: "In most organizations, 40% of administrative time in training is wasted on grading papers and manually typing out certificates. It’s a bottleneck that slows down growth."</a:t>
            </a:r>
            <a:endParaRPr lang="en-US" altLang="en-US" sz="3600"/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/>
              <a:t>The Problem: Manual systems are prone to human error, slow to scale, and provide zero real-time data on learner progress.</a:t>
            </a:r>
            <a:endParaRPr lang="en-US" altLang="en-US" sz="3600"/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/>
              <a:t>The Solution: "Today, we are introducing an automated ecosystem that turns raw content into a quiz, grades it instantly, and rewards the learner with a professional PDF certificate—all without a single human click.</a:t>
            </a:r>
            <a:endParaRPr lang="en-US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70205"/>
            <a:ext cx="17907000" cy="927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90600" y="2857500"/>
            <a:ext cx="16744315" cy="802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4000"/>
              <a:t>In digital learning, the "Moment of Achievement" is often lost.</a:t>
            </a:r>
            <a:endParaRPr lang="en-US" altLang="en-US" sz="400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4000"/>
              <a:t> Traditional systems decouple the assessment from the reward.</a:t>
            </a:r>
            <a:endParaRPr lang="en-US" altLang="en-US" sz="400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4000"/>
              <a:t> When a student finishes a quiz, the lack of instant gratification (immediate feedback and a tangible credential) leads to a 30% drop-off in course completion rates. </a:t>
            </a:r>
            <a:endParaRPr lang="en-US" altLang="en-US" sz="400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4000"/>
              <a:t>Current tools are either too expensive, too complex to integrate, or require manual intervention to issue credentials.</a:t>
            </a:r>
            <a:endParaRPr lang="en-US" altLang="en-US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152400" y="559435"/>
            <a:ext cx="17907000" cy="1043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849630" y="1891030"/>
            <a:ext cx="16410305" cy="765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4000"/>
              <a:t>  Zero-Touch Automation: Eliminate manual grading and certificate issuance by creating a fully autonomous pipeline from "Quiz Submission" to "Inbox Delivery."</a:t>
            </a:r>
            <a:endParaRPr lang="en-US" altLang="en-US" sz="400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altLang="en-US" sz="4000"/>
              <a:t>Instant Feedback Loop: Provide learners with their scores and credentials within &lt; 10 seconds of completion to maximize psychological "reward" and engagement.</a:t>
            </a:r>
            <a:endParaRPr lang="en-US" altLang="en-US" sz="400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altLang="en-US" sz="4000"/>
              <a:t>Scalability &amp; Performance: Design a system capable of processing 1,000+ simultaneous assessments without performance degradation or database locking.</a:t>
            </a:r>
            <a:endParaRPr lang="en-US" altLang="en-US" sz="4000"/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altLang="en-US" sz="4000"/>
              <a:t>Secure Credentialing: Issue tamper-proof PDF certificates with unique identifiers (QR codes or Serial IDs) to ensure authenticity and prevent forgery</a:t>
            </a:r>
            <a:endParaRPr lang="en-US" altLang="en-US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512445"/>
            <a:ext cx="17907000" cy="1003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67435" y="1698625"/>
            <a:ext cx="16325215" cy="796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4000"/>
              <a:t>To make your system stand out, emphasize these two features:</a:t>
            </a:r>
            <a:endParaRPr lang="en-US" altLang="en-US" sz="4000"/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400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4000"/>
              <a:t>Unique QR Verification: Every certificate includes a unique QR code. Anyone scanning it is taken to a verification URL, proving the certificate is authentic.</a:t>
            </a:r>
            <a:endParaRPr lang="en-US" altLang="en-US" sz="4000"/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400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4000"/>
              <a:t>Anti-Plagiarism / Shuffling: The system doesn't just generate questions; it shuffles the order and options for every user to prevent cheating in high-stakes environments.</a:t>
            </a:r>
            <a:endParaRPr lang="en-US" altLang="en-US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497205"/>
            <a:ext cx="17907000" cy="996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12165" y="1386205"/>
            <a:ext cx="16792575" cy="810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600"/>
              <a:t>Input: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 </a:t>
            </a:r>
            <a:r>
              <a:rPr lang="en-US" altLang="en-US" sz="3600"/>
              <a:t>User registration, login credentials, subscription plan selection</a:t>
            </a:r>
            <a:endParaRPr lang="en-US" altLang="en-US" sz="3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600"/>
              <a:t>Processing: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 </a:t>
            </a:r>
            <a:r>
              <a:rPr lang="en-US" altLang="en-US" sz="3600"/>
              <a:t>JavaScript tier logic, authentication validation, UI rendering</a:t>
            </a:r>
            <a:endParaRPr lang="en-US" altLang="en-US" sz="3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600"/>
              <a:t>Database: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 </a:t>
            </a:r>
            <a:r>
              <a:rPr lang="en-US" altLang="en-US" sz="3600"/>
              <a:t>MySQL tables (Users &amp; Subscriptions)</a:t>
            </a:r>
            <a:endParaRPr lang="en-US" altLang="en-US" sz="3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600"/>
              <a:t>Output: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 </a:t>
            </a:r>
            <a:r>
              <a:rPr lang="en-US" altLang="en-US" sz="3600"/>
              <a:t>Dynamic dashboard displaying result details, certificate info</a:t>
            </a:r>
            <a:endParaRPr lang="en-US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438150"/>
            <a:ext cx="17907000" cy="1090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20140" y="1799590"/>
            <a:ext cx="16139160" cy="7360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400"/>
              <a:t>Ingest:  AI Question Gen</a:t>
            </a: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400"/>
              <a:t>.Attempt: Interactive Quiz \ Timer &amp; Shuffling.</a:t>
            </a: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400"/>
              <a:t>Grade: Instant Scoring \ Pass/Fail Logic.</a:t>
            </a: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400"/>
              <a:t>Render: Dynamic PDF Generation\ QR Insertion.</a:t>
            </a: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44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400"/>
              <a:t>Deliver: Email Dispatch \ Cloud Archiving</a:t>
            </a:r>
            <a:endParaRPr lang="en-US" altLang="en-US" sz="4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5710" y="1369695"/>
            <a:ext cx="16433165" cy="800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600"/>
              <a:t>Frontend: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</a:t>
            </a:r>
            <a:r>
              <a:rPr lang="en-US" altLang="en-US" sz="3600"/>
              <a:t>HTML5,  CSS, JavaScript</a:t>
            </a: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600"/>
              <a:t>Backend: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</a:t>
            </a:r>
            <a:r>
              <a:rPr lang="en-US" altLang="en-US" sz="3600"/>
              <a:t>Python with Flask</a:t>
            </a: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600"/>
              <a:t>Database: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</a:t>
            </a:r>
            <a:r>
              <a:rPr lang="en-US" altLang="en-US" sz="3600"/>
              <a:t>MySQL</a:t>
            </a: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600"/>
              <a:t>Tools: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</a:t>
            </a:r>
            <a:r>
              <a:rPr lang="en-US" altLang="en-US" sz="3600"/>
              <a:t>VS Code, XAMPP / Live Server, Browser DevTools</a:t>
            </a: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3600"/>
              <a:t>Hardware/Software Requirements:</a:t>
            </a:r>
            <a:endParaRPr lang="en-US" altLang="en-US" sz="3600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sz="3600"/>
              <a:t>      </a:t>
            </a:r>
            <a:r>
              <a:rPr lang="en-US" altLang="en-US" sz="3600"/>
              <a:t>Laptop with Internet, Modern Web Browser</a:t>
            </a:r>
            <a:endParaRPr 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8200" y="1485900"/>
            <a:ext cx="16312515" cy="7244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600" dirty="0"/>
              <a:t>Module 1: User Authentication</a:t>
            </a:r>
            <a:endParaRPr lang="en-US" altLang="en-US" sz="3600" dirty="0"/>
          </a:p>
          <a:p>
            <a:pPr marL="457200" lvl="1" indent="457200"/>
            <a:r>
              <a:rPr lang="en-US" altLang="en-US" sz="3600" dirty="0"/>
              <a:t>Handles login validation and session persistence.</a:t>
            </a:r>
            <a:endParaRPr lang="en-US" altLang="en-US" sz="3600" dirty="0"/>
          </a:p>
          <a:p>
            <a:endParaRPr lang="en-US" altLang="en-US" sz="3600" dirty="0"/>
          </a:p>
          <a:p>
            <a:r>
              <a:rPr lang="en-US" altLang="en-US" sz="3600" dirty="0"/>
              <a:t>Module 2: Assessment &amp; Logic Module</a:t>
            </a:r>
            <a:endParaRPr lang="en-US" altLang="en-US" sz="3600" dirty="0"/>
          </a:p>
          <a:p>
            <a:r>
              <a:rPr lang="en-US" altLang="en-US" sz="3600" dirty="0"/>
              <a:t>         This module manages the user experience and the "Rules" of the quiz.</a:t>
            </a:r>
            <a:endParaRPr lang="en-US" altLang="en-US" sz="3600" dirty="0"/>
          </a:p>
          <a:p>
            <a:endParaRPr lang="en-US" altLang="en-US" sz="3600" dirty="0"/>
          </a:p>
          <a:p>
            <a:r>
              <a:rPr lang="en-US" altLang="en-US" sz="3600" dirty="0"/>
              <a:t>Module 3: Dynamic PDF Generation Module</a:t>
            </a:r>
            <a:endParaRPr lang="en-US" altLang="en-US" sz="3600" dirty="0"/>
          </a:p>
          <a:p>
            <a:pPr marL="457200" lvl="1" indent="457200"/>
            <a:r>
              <a:rPr lang="en-US" altLang="en-US" sz="3600" dirty="0"/>
              <a:t>The "Design" engine that produces the high-quality, personalized outcome.</a:t>
            </a:r>
            <a:endParaRPr lang="en-US" altLang="en-US" sz="3600" dirty="0"/>
          </a:p>
          <a:p>
            <a:pPr marL="457200" lvl="1" indent="457200"/>
            <a:r>
              <a:rPr lang="en-US" altLang="en-US" sz="3600" dirty="0"/>
              <a:t>	</a:t>
            </a:r>
            <a:endParaRPr lang="en-US" altLang="en-US" sz="3600" dirty="0"/>
          </a:p>
          <a:p>
            <a:r>
              <a:rPr lang="en-US" altLang="en-US" sz="3600" dirty="0"/>
              <a:t>Module 4: Analytics &amp; Distribution Module</a:t>
            </a:r>
            <a:endParaRPr lang="en-US" altLang="en-US" sz="3600" dirty="0"/>
          </a:p>
          <a:p>
            <a:pPr marL="457200" lvl="1" indent="457200"/>
            <a:r>
              <a:rPr lang="en-US" altLang="en-US" sz="3600" dirty="0"/>
              <a:t>The "Management" layer for administrators and delivery.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60414" y="1173970"/>
            <a:ext cx="16410305" cy="7447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600"/>
              <a:t>Allows users to enter credentials for authentication</a:t>
            </a:r>
            <a:endParaRPr lang="en-IN" altLang="en-US"/>
          </a:p>
        </p:txBody>
      </p:sp>
      <p:pic>
        <p:nvPicPr>
          <p:cNvPr id="3" name="Picture 2" descr="post_object_image_27705557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509" y="2132446"/>
            <a:ext cx="7696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63015" y="1539240"/>
            <a:ext cx="16007080" cy="787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600"/>
              <a:t>Displays picing plans and subscription options</a:t>
            </a:r>
            <a:endParaRPr lang="en-IN" altLang="en-US"/>
          </a:p>
        </p:txBody>
      </p:sp>
      <p:pic>
        <p:nvPicPr>
          <p:cNvPr id="4" name="Picture 3" descr="post_object_image_7991814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16" y="2382493"/>
            <a:ext cx="9982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0760" y="1562100"/>
            <a:ext cx="16169640" cy="7435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r>
              <a:rPr lang="en-IN" altLang="en-US" sz="3600" dirty="0"/>
              <a:t>Shows active subsciption tier, blling details, and features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 descr="post_object_image_17838833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757" y="2328912"/>
            <a:ext cx="9439275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1865" y="1656080"/>
            <a:ext cx="16416655" cy="7474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3600" dirty="0"/>
              <a:t>Updates UI instantly after plan selection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7" name="Picture 6" descr="post_object_image_13482756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247" y="2570659"/>
            <a:ext cx="9982200" cy="6981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527685"/>
            <a:ext cx="17907000" cy="1097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43000" y="1485900"/>
            <a:ext cx="16072485" cy="800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4000" b="1"/>
              <a:t>Advantages:</a:t>
            </a:r>
            <a:endParaRPr lang="en-IN" altLang="en-US" sz="40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/>
              <a:t>Instant</a:t>
            </a:r>
            <a:endParaRPr lang="en-US" altLang="en-US" sz="4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/>
              <a:t>Automated</a:t>
            </a:r>
            <a:endParaRPr lang="en-US" altLang="en-US" sz="4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/>
              <a:t>Scalable</a:t>
            </a:r>
            <a:endParaRPr lang="en-US" altLang="en-US" sz="4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/>
              <a:t>Secure</a:t>
            </a:r>
            <a:endParaRPr lang="en-US" altLang="en-US" sz="400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4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/>
              <a:t>Consisten</a:t>
            </a:r>
            <a:r>
              <a:rPr lang="en-IN" altLang="en-US" sz="4000" b="1"/>
              <a:t>Limitations:</a:t>
            </a:r>
            <a:endParaRPr lang="en-IN" altLang="en-US" sz="40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/>
              <a:t>Hallucinations</a:t>
            </a:r>
            <a:endParaRPr lang="en-US" altLang="en-US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/>
              <a:t>Dependency</a:t>
            </a:r>
            <a:endParaRPr lang="en-US" altLang="en-US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/>
              <a:t>Deliverability</a:t>
            </a:r>
            <a:endParaRPr lang="en-US" altLang="en-US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/>
              <a:t>Connectivity</a:t>
            </a:r>
            <a:endParaRPr lang="en-US" altLang="en-US" sz="3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/>
              <a:t>Constraints</a:t>
            </a:r>
            <a:endParaRPr lang="en-US" altLang="en-US"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3972</Words>
  <Application>WPS Office WWO_wpscloud_20260130142405-e29c353aab</Application>
  <PresentationFormat>Custom</PresentationFormat>
  <Paragraphs>168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Cambria</vt:lpstr>
      <vt:lpstr>Georgia</vt:lpstr>
      <vt:lpstr>Bookman Old Style</vt:lpstr>
      <vt:lpstr>Times New Roman</vt:lpstr>
      <vt:lpstr>Gotham Bold Italics</vt:lpstr>
      <vt:lpstr>仓耳屏显楷体 W04</vt:lpstr>
      <vt:lpstr>Calibri</vt:lpstr>
      <vt:lpstr>DejaVu Serif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bhavy</cp:lastModifiedBy>
  <dcterms:created xsi:type="dcterms:W3CDTF">2026-03-24T17:22:56Z</dcterms:created>
  <dcterms:modified xsi:type="dcterms:W3CDTF">2026-03-24T17:22:56Z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2052-12.9.0.25203</vt:lpwstr>
  </property>
  <property fmtid="{D5CDD505-2E9C-101B-9397-08002B2CF9AE}" pid="3" name="ICV">
    <vt:lpwstr>78A253A8A2E44AF2A8454E46E901FB93_12</vt:lpwstr>
  </property>
</Properties>
</file>